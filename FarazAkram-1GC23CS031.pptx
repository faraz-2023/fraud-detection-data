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faraz-2023/Fraud-Detection-Data"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466155408"/>
              </p:ext>
            </p:extLst>
          </p:nvPr>
        </p:nvGraphicFramePr>
        <p:xfrm>
          <a:off x="1299257" y="2600315"/>
          <a:ext cx="9760630" cy="2461542"/>
        </p:xfrm>
        <a:graphic>
          <a:graphicData uri="http://schemas.openxmlformats.org/drawingml/2006/table">
            <a:tbl>
              <a:tblPr>
                <a:noFill/>
                <a:tableStyleId>{0AAD8F4D-43EB-41E5-8A38-28AB6DFB1B60}</a:tableStyleId>
              </a:tblPr>
              <a:tblGrid>
                <a:gridCol w="2145229">
                  <a:extLst>
                    <a:ext uri="{9D8B030D-6E8A-4147-A177-3AD203B41FA5}">
                      <a16:colId xmlns:a16="http://schemas.microsoft.com/office/drawing/2014/main" val="20000"/>
                    </a:ext>
                  </a:extLst>
                </a:gridCol>
                <a:gridCol w="2538467">
                  <a:extLst>
                    <a:ext uri="{9D8B030D-6E8A-4147-A177-3AD203B41FA5}">
                      <a16:colId xmlns:a16="http://schemas.microsoft.com/office/drawing/2014/main" val="20002"/>
                    </a:ext>
                  </a:extLst>
                </a:gridCol>
                <a:gridCol w="2538467">
                  <a:extLst>
                    <a:ext uri="{9D8B030D-6E8A-4147-A177-3AD203B41FA5}">
                      <a16:colId xmlns:a16="http://schemas.microsoft.com/office/drawing/2014/main" val="20003"/>
                    </a:ext>
                  </a:extLst>
                </a:gridCol>
                <a:gridCol w="2538467">
                  <a:extLst>
                    <a:ext uri="{9D8B030D-6E8A-4147-A177-3AD203B41FA5}">
                      <a16:colId xmlns:a16="http://schemas.microsoft.com/office/drawing/2014/main" val="20004"/>
                    </a:ext>
                  </a:extLst>
                </a:gridCol>
              </a:tblGrid>
              <a:tr h="1105456">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356086">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FARAZ AKRAM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a:t>farazakram2024@gmail.com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a:t>          8603778367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Financial Security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cs typeface="Times New Roman"/>
                <a:sym typeface="Times New Roman"/>
              </a:rPr>
              <a:t>Online Payment Fraud Detection</a:t>
            </a:r>
            <a:r>
              <a:rPr lang="en-US" sz="2400" b="1" dirty="0">
                <a:highlight>
                  <a:srgbClr val="FFFF00"/>
                </a:highlight>
              </a:rPr>
              <a:t>]</a:t>
            </a:r>
            <a:endParaRPr lang="en-IN" sz="2400" b="1" dirty="0">
              <a:highlight>
                <a:srgbClr val="FFFF00"/>
              </a:highlight>
            </a:endParaRPr>
          </a:p>
        </p:txBody>
      </p:sp>
      <p:pic>
        <p:nvPicPr>
          <p:cNvPr id="3" name="Picture 2">
            <a:extLst>
              <a:ext uri="{FF2B5EF4-FFF2-40B4-BE49-F238E27FC236}">
                <a16:creationId xmlns:a16="http://schemas.microsoft.com/office/drawing/2014/main" id="{7E0F0DED-71D6-650C-DD32-F71E5B1A1327}"/>
              </a:ext>
            </a:extLst>
          </p:cNvPr>
          <p:cNvPicPr>
            <a:picLocks noChangeAspect="1"/>
          </p:cNvPicPr>
          <p:nvPr/>
        </p:nvPicPr>
        <p:blipFill>
          <a:blip r:embed="rId3"/>
          <a:stretch>
            <a:fillRect/>
          </a:stretch>
        </p:blipFill>
        <p:spPr>
          <a:xfrm>
            <a:off x="4158343" y="3831086"/>
            <a:ext cx="1055915" cy="9963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165753"/>
            <a:ext cx="10607040" cy="5693866"/>
          </a:xfrm>
          <a:prstGeom prst="rect">
            <a:avLst/>
          </a:prstGeom>
          <a:noFill/>
        </p:spPr>
        <p:txBody>
          <a:bodyPr wrap="square" rtlCol="0">
            <a:spAutoFit/>
          </a:bodyPr>
          <a:lstStyle/>
          <a:p>
            <a:pPr fontAlgn="base"/>
            <a:r>
              <a:rPr lang="en-US" b="1" dirty="0"/>
              <a:t>Problem Statement : </a:t>
            </a:r>
            <a:endParaRPr lang="en-US" dirty="0"/>
          </a:p>
          <a:p>
            <a:pPr fontAlgn="base"/>
            <a:endParaRPr lang="en-US" b="1" dirty="0"/>
          </a:p>
          <a:p>
            <a:pPr fontAlgn="base"/>
            <a:r>
              <a:rPr lang="en-US" dirty="0"/>
              <a:t>With the rapid growth of digital payments, financial fraud has become increasingly common. Users and institutions face challenges in identifying suspicious transactions in real time due to complex patterns, high transaction volume, and lack of intelligent monitoring systems.</a:t>
            </a:r>
          </a:p>
          <a:p>
            <a:pPr fontAlgn="base"/>
            <a:endParaRPr lang="en-US" dirty="0"/>
          </a:p>
          <a:p>
            <a:pPr fontAlgn="base"/>
            <a:r>
              <a:rPr lang="en-US" b="1" dirty="0"/>
              <a:t>The Objective</a:t>
            </a:r>
            <a:r>
              <a:rPr lang="en-US" dirty="0"/>
              <a:t> </a:t>
            </a:r>
          </a:p>
          <a:p>
            <a:r>
              <a:rPr lang="en-US" dirty="0"/>
              <a:t>Build an </a:t>
            </a:r>
            <a:r>
              <a:rPr lang="en-US" b="1" dirty="0"/>
              <a:t>AI-powered Fraud Detection System</a:t>
            </a:r>
            <a:r>
              <a:rPr lang="en-US" dirty="0"/>
              <a:t> that analyzes transaction data and identifies suspicious activities using intelligent decision-making models.</a:t>
            </a:r>
          </a:p>
          <a:p>
            <a:endParaRPr lang="en-US" dirty="0"/>
          </a:p>
          <a:p>
            <a:r>
              <a:rPr lang="en-US" b="1" dirty="0"/>
              <a:t>1.  Transaction Analysis</a:t>
            </a:r>
          </a:p>
          <a:p>
            <a:r>
              <a:rPr lang="en-US" b="1" dirty="0"/>
              <a:t>Input: </a:t>
            </a:r>
          </a:p>
          <a:p>
            <a:pPr lvl="1"/>
            <a:r>
              <a:rPr lang="en-US" dirty="0"/>
              <a:t>Type (TRANSFER, CASH_OUT, PAYMENT, etc.) </a:t>
            </a:r>
          </a:p>
          <a:p>
            <a:pPr lvl="1"/>
            <a:r>
              <a:rPr lang="en-US" dirty="0"/>
              <a:t>Amount </a:t>
            </a:r>
          </a:p>
          <a:p>
            <a:pPr lvl="1"/>
            <a:r>
              <a:rPr lang="en-US" dirty="0"/>
              <a:t>Sender &amp; Receiver balances </a:t>
            </a:r>
          </a:p>
          <a:p>
            <a:r>
              <a:rPr lang="en-US" b="1" dirty="0"/>
              <a:t>Output: </a:t>
            </a:r>
          </a:p>
          <a:p>
            <a:pPr lvl="1"/>
            <a:r>
              <a:rPr lang="en-US" dirty="0"/>
              <a:t>Fraud / Safe classification </a:t>
            </a:r>
          </a:p>
          <a:p>
            <a:pPr lvl="1"/>
            <a:endParaRPr lang="en-US" dirty="0"/>
          </a:p>
          <a:p>
            <a:r>
              <a:rPr lang="en-US" b="1" dirty="0"/>
              <a:t>2.  Intelligent Fraud Detection</a:t>
            </a:r>
          </a:p>
          <a:p>
            <a:r>
              <a:rPr lang="en-US" i="1" dirty="0"/>
              <a:t>Detect patterns like: </a:t>
            </a:r>
          </a:p>
          <a:p>
            <a:pPr lvl="1"/>
            <a:r>
              <a:rPr lang="en-US" dirty="0"/>
              <a:t>Large transaction amounts </a:t>
            </a:r>
          </a:p>
          <a:p>
            <a:pPr lvl="1"/>
            <a:r>
              <a:rPr lang="en-US" dirty="0"/>
              <a:t>Sudden balance drop to zero </a:t>
            </a:r>
          </a:p>
          <a:p>
            <a:pPr lvl="1"/>
            <a:r>
              <a:rPr lang="en-US" dirty="0"/>
              <a:t>Inconsistent balance updates </a:t>
            </a:r>
          </a:p>
          <a:p>
            <a:pPr lvl="1"/>
            <a:r>
              <a:rPr lang="en-US" dirty="0"/>
              <a:t>Suspicious transfer chains </a:t>
            </a:r>
          </a:p>
          <a:p>
            <a:pPr lvl="1"/>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a:t>Lang Flow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Lang Chain + RAG + IBM Granite Models</a:t>
            </a:r>
          </a:p>
          <a:p>
            <a:pPr marL="285750" indent="-285750" fontAlgn="base">
              <a:buFont typeface="Arial" panose="020B0604020202020204" pitchFamily="34" charset="0"/>
              <a:buChar char="•"/>
            </a:pPr>
            <a:endParaRPr lang="en-IN" dirty="0"/>
          </a:p>
          <a:p>
            <a:pPr fontAlgn="base"/>
            <a:r>
              <a:rPr lang="en-IN" dirty="0"/>
              <a:t>I used </a:t>
            </a:r>
            <a:r>
              <a:rPr lang="en-IN" b="1" dirty="0">
                <a:highlight>
                  <a:srgbClr val="FFFF00"/>
                </a:highlight>
              </a:rPr>
              <a:t>Lang Flow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45325"/>
            <a:ext cx="10607040" cy="4524315"/>
          </a:xfrm>
          <a:prstGeom prst="rect">
            <a:avLst/>
          </a:prstGeom>
          <a:noFill/>
        </p:spPr>
        <p:txBody>
          <a:bodyPr wrap="square" rtlCol="0">
            <a:spAutoFit/>
          </a:bodyPr>
          <a:lstStyle/>
          <a:p>
            <a:pPr>
              <a:buNone/>
            </a:pPr>
            <a:r>
              <a:rPr lang="en-US" sz="1600" dirty="0">
                <a:effectLst/>
              </a:rPr>
              <a:t>The proposed solution is a multi-agent AI-powered Fraud Detection System built using </a:t>
            </a:r>
            <a:r>
              <a:rPr lang="en-US" sz="1600" dirty="0" err="1">
                <a:effectLst/>
              </a:rPr>
              <a:t>LangFlow</a:t>
            </a:r>
            <a:r>
              <a:rPr lang="en-US" sz="1600" dirty="0">
                <a:effectLst/>
              </a:rPr>
              <a:t>, IBM watsonx.ai, and Granite Models to detect and prevent fraudulent financial transactions in real time. The system addresses challenges in identifying suspicious payment activities, reducing financial risks, and improving trust in digital payment systems through an intelligent and modular architecture.</a:t>
            </a:r>
          </a:p>
          <a:p>
            <a:pPr>
              <a:buNone/>
            </a:pPr>
            <a:r>
              <a:rPr lang="en-US" sz="1600" dirty="0">
                <a:effectLst/>
              </a:rPr>
              <a:t>At its core, the solution leverages a Retrieval-Augmented Generation (RAG) pipeline combined with rule-based and machine learning techniques to analyze transaction data. Historical transaction datasets (such as </a:t>
            </a:r>
            <a:r>
              <a:rPr lang="en-US" sz="1600" dirty="0" err="1">
                <a:effectLst/>
              </a:rPr>
              <a:t>PaySim</a:t>
            </a:r>
            <a:r>
              <a:rPr lang="en-US" sz="1600" dirty="0">
                <a:effectLst/>
              </a:rPr>
              <a:t> or banking datasets) are embedded and stored in a vector database, enabling the system to identify patterns and detect anomalies. Granite models are used to interpret transaction behavior, classify fraud risk, and generate explainable outputs.</a:t>
            </a:r>
          </a:p>
          <a:p>
            <a:pPr>
              <a:buNone/>
            </a:pPr>
            <a:r>
              <a:rPr lang="en-US" sz="1600" dirty="0">
                <a:effectLst/>
              </a:rPr>
              <a:t>The system consists of four key agents:</a:t>
            </a:r>
          </a:p>
          <a:p>
            <a:pPr>
              <a:buFont typeface="Arial" panose="020B0604020202020204" pitchFamily="34" charset="0"/>
              <a:buChar char="•"/>
            </a:pPr>
            <a:r>
              <a:rPr lang="en-US" sz="1600" b="1" dirty="0"/>
              <a:t>Transaction Analysis Agent</a:t>
            </a:r>
            <a:r>
              <a:rPr lang="en-US" sz="1600" dirty="0"/>
              <a:t> – Processes raw transaction data such as transaction type (TRANSFER, CASH_OUT, etc.), amount, and sender/receiver balances.</a:t>
            </a:r>
          </a:p>
          <a:p>
            <a:pPr>
              <a:buFont typeface="Arial" panose="020B0604020202020204" pitchFamily="34" charset="0"/>
              <a:buChar char="•"/>
            </a:pPr>
            <a:r>
              <a:rPr lang="en-US" sz="1600" b="1" dirty="0"/>
              <a:t>Fraud Detection Agent</a:t>
            </a:r>
            <a:r>
              <a:rPr lang="en-US" sz="1600" dirty="0"/>
              <a:t> – Applies rules and machine learning models to detect suspicious patterns like unusually high transaction amounts, sudden balance drops, and zero balance after transfer.</a:t>
            </a:r>
          </a:p>
          <a:p>
            <a:pPr>
              <a:buFont typeface="Arial" panose="020B0604020202020204" pitchFamily="34" charset="0"/>
              <a:buChar char="•"/>
            </a:pPr>
            <a:r>
              <a:rPr lang="en-US" sz="1600" b="1" dirty="0"/>
              <a:t>Risk Scoring Agent</a:t>
            </a:r>
            <a:r>
              <a:rPr lang="en-US" sz="1600" dirty="0"/>
              <a:t> – Assigns a fraud probability score and categorizes transactions into High Risk, Medium Risk, or Low Risk.</a:t>
            </a:r>
          </a:p>
          <a:p>
            <a:pPr>
              <a:buFont typeface="Arial" panose="020B0604020202020204" pitchFamily="34" charset="0"/>
              <a:buChar char="•"/>
            </a:pPr>
            <a:r>
              <a:rPr lang="en-US" sz="1600" b="1" dirty="0"/>
              <a:t>Explanation &amp; Guardrail Agent</a:t>
            </a:r>
            <a:r>
              <a:rPr lang="en-US" sz="1600" dirty="0"/>
              <a:t> – Generates clear, human-readable explanations for decisions and ensures all outputs are safe, compliant, and free from unsafe recommendations using IBM Granite Guardrails.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537590" y="1595064"/>
            <a:ext cx="9289664" cy="3046988"/>
          </a:xfrm>
          <a:prstGeom prst="rect">
            <a:avLst/>
          </a:prstGeom>
          <a:noFill/>
        </p:spPr>
        <p:txBody>
          <a:bodyPr wrap="square" rtlCol="0">
            <a:spAutoFit/>
          </a:bodyPr>
          <a:lstStyle/>
          <a:p>
            <a:r>
              <a:rPr lang="en-US" sz="1600" b="1" dirty="0"/>
              <a:t>Chat Input </a:t>
            </a:r>
            <a:r>
              <a:rPr lang="en-US" sz="1600" dirty="0"/>
              <a:t>– Interface where users or systems enter transaction details, queries, or raise alerts for fraud investigation.</a:t>
            </a:r>
          </a:p>
          <a:p>
            <a:r>
              <a:rPr lang="en-US" sz="1600" b="1" dirty="0"/>
              <a:t>IBM watsonx.ai (Model Component</a:t>
            </a:r>
            <a:r>
              <a:rPr lang="en-US" sz="1600" dirty="0"/>
              <a:t>) Role: This is the Reasoning Engine. It is configured with Project_ID, API Key, and IBM Granite models to analyze transactions and generate intelligent fraud insights.</a:t>
            </a:r>
          </a:p>
          <a:p>
            <a:r>
              <a:rPr lang="en-US" sz="1600" b="1" dirty="0"/>
              <a:t>Fraud Detection Agent</a:t>
            </a:r>
            <a:r>
              <a:rPr lang="en-US" sz="1600" dirty="0"/>
              <a:t> (Agent Component)Role: This acts as the Decision Maker. In Lang Flow, the agent follows complex instructions, uses tools, and performs step-by-step reasoning (e.g., “If transaction amount is unusually high, then verify location and velocity”).</a:t>
            </a:r>
          </a:p>
          <a:p>
            <a:r>
              <a:rPr lang="en-US" sz="1600" b="1" dirty="0"/>
              <a:t>Chat Output </a:t>
            </a:r>
            <a:r>
              <a:rPr lang="en-US" sz="1600" dirty="0"/>
              <a:t>– Displays AI-generated responses such as fraud risk scores, explanations, recommended actions, and alerts.</a:t>
            </a:r>
          </a:p>
          <a:p>
            <a:r>
              <a:rPr lang="en-US" sz="1600" b="1" dirty="0"/>
              <a:t>File Component </a:t>
            </a:r>
            <a:r>
              <a:rPr lang="en-US" sz="1600" dirty="0"/>
              <a:t>– Stores and retrieves transaction history, user data, fraud patterns, and labeled datasets for analysis and model improvement.</a:t>
            </a:r>
            <a:endParaRPr lang="en-IN" sz="16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939F19CA-8272-1541-A832-4CEAA4892733}"/>
              </a:ext>
            </a:extLst>
          </p:cNvPr>
          <p:cNvPicPr>
            <a:picLocks noChangeAspect="1"/>
          </p:cNvPicPr>
          <p:nvPr/>
        </p:nvPicPr>
        <p:blipFill>
          <a:blip r:embed="rId3"/>
          <a:stretch>
            <a:fillRect/>
          </a:stretch>
        </p:blipFill>
        <p:spPr>
          <a:xfrm>
            <a:off x="199709" y="1077105"/>
            <a:ext cx="11792581" cy="5584951"/>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14" name="Picture 13">
            <a:extLst>
              <a:ext uri="{FF2B5EF4-FFF2-40B4-BE49-F238E27FC236}">
                <a16:creationId xmlns:a16="http://schemas.microsoft.com/office/drawing/2014/main" id="{3F328FF5-92CB-D14B-5D2F-C8257B8456C8}"/>
              </a:ext>
            </a:extLst>
          </p:cNvPr>
          <p:cNvPicPr>
            <a:picLocks noChangeAspect="1"/>
          </p:cNvPicPr>
          <p:nvPr/>
        </p:nvPicPr>
        <p:blipFill>
          <a:blip r:embed="rId3"/>
          <a:stretch>
            <a:fillRect/>
          </a:stretch>
        </p:blipFill>
        <p:spPr>
          <a:xfrm>
            <a:off x="0" y="859970"/>
            <a:ext cx="12192000" cy="59980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556477" y="1167493"/>
            <a:ext cx="7406640" cy="5262979"/>
          </a:xfrm>
          <a:prstGeom prst="rect">
            <a:avLst/>
          </a:prstGeom>
          <a:noFill/>
        </p:spPr>
        <p:txBody>
          <a:bodyPr wrap="square" rtlCol="0">
            <a:spAutoFit/>
          </a:bodyPr>
          <a:lstStyle/>
          <a:p>
            <a:r>
              <a:rPr lang="en-US" sz="1600" b="1" dirty="0"/>
              <a:t>Role of Agentic AI in Fraud Detection System</a:t>
            </a:r>
          </a:p>
          <a:p>
            <a:endParaRPr lang="en-US" sz="1600" b="1" dirty="0"/>
          </a:p>
          <a:p>
            <a:r>
              <a:rPr lang="en-US" sz="1600" dirty="0"/>
              <a:t>Agentic AI enables the Fraud Detection System to function as an </a:t>
            </a:r>
            <a:r>
              <a:rPr lang="en-US" sz="1600" b="1" dirty="0"/>
              <a:t>intelligent, autonomous security system</a:t>
            </a:r>
            <a:r>
              <a:rPr lang="en-US" sz="1600" dirty="0"/>
              <a:t> rather than a simple rule-based checker. Using </a:t>
            </a:r>
            <a:r>
              <a:rPr lang="en-US" sz="1600" b="1" dirty="0"/>
              <a:t>IBM watsonx.ai</a:t>
            </a:r>
            <a:r>
              <a:rPr lang="en-US" sz="1600" dirty="0"/>
              <a:t> and </a:t>
            </a:r>
            <a:r>
              <a:rPr lang="en-US" sz="1600" b="1" dirty="0"/>
              <a:t>Granite models</a:t>
            </a:r>
            <a:r>
              <a:rPr lang="en-US" sz="1600" dirty="0"/>
              <a:t>, it coordinates multiple specialized agents to analyze transactions and detect fraud in real time.</a:t>
            </a:r>
          </a:p>
          <a:p>
            <a:r>
              <a:rPr lang="en-US" sz="1600" dirty="0"/>
              <a:t>Each agent performs a specific role—such as processing transaction data, detecting suspicious patterns, assigning risk scores, and generating explanations—while working collaboratively. This </a:t>
            </a:r>
            <a:r>
              <a:rPr lang="en-US" sz="1600" b="1" dirty="0"/>
              <a:t>multi-agent approach</a:t>
            </a:r>
            <a:r>
              <a:rPr lang="en-US" sz="1600" dirty="0"/>
              <a:t> ensures faster processing, higher accuracy, and efficient fraud detection.</a:t>
            </a:r>
          </a:p>
          <a:p>
            <a:r>
              <a:rPr lang="en-US" sz="1600" dirty="0"/>
              <a:t>Agentic AI also provides </a:t>
            </a:r>
            <a:r>
              <a:rPr lang="en-US" sz="1600" b="1" dirty="0"/>
              <a:t>context awareness</a:t>
            </a:r>
            <a:r>
              <a:rPr lang="en-US" sz="1600" dirty="0"/>
              <a:t>, understanding transaction details like amount, type, and balance changes to identify unusual behavior. It can detect patterns such as sudden large transfers, abnormal balance drops, or inconsistent transaction flows.</a:t>
            </a:r>
          </a:p>
          <a:p>
            <a:r>
              <a:rPr lang="en-US" sz="1600" dirty="0"/>
              <a:t>Additionally, the system supports </a:t>
            </a:r>
            <a:r>
              <a:rPr lang="en-US" sz="1600" b="1" dirty="0"/>
              <a:t>real-time adaptation</a:t>
            </a:r>
            <a:r>
              <a:rPr lang="en-US" sz="1600" dirty="0"/>
              <a:t>, continuously improving its decisions based on new transaction data and evolving fraud patterns. Agents communicate with each other, enabling better coordination and more reliable outcomes.</a:t>
            </a:r>
          </a:p>
          <a:p>
            <a:r>
              <a:rPr lang="en-US" sz="1600" dirty="0"/>
              <a:t>Overall, Agentic AI makes the system </a:t>
            </a:r>
            <a:r>
              <a:rPr lang="en-US" sz="1600" b="1" dirty="0"/>
              <a:t>proactive, adaptive, and intelligent</a:t>
            </a:r>
            <a:r>
              <a:rPr lang="en-US" sz="1600" dirty="0"/>
              <a:t>, acting like a smart financial security assistant that helps prevent fraud, reduce financial losses, and enhance trust in digital payment systems.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043722"/>
            <a:ext cx="10515600" cy="6894195"/>
          </a:xfrm>
          <a:prstGeom prst="rect">
            <a:avLst/>
          </a:prstGeom>
          <a:noFill/>
        </p:spPr>
        <p:txBody>
          <a:bodyPr wrap="square" rtlCol="0">
            <a:spAutoFit/>
          </a:bodyPr>
          <a:lstStyle/>
          <a:p>
            <a:r>
              <a:rPr lang="en-US" sz="1800" b="1" dirty="0"/>
              <a:t>Lang flow platform </a:t>
            </a:r>
            <a:r>
              <a:rPr lang="en-US" sz="1800" dirty="0"/>
              <a:t>-Used for designing and orchestrating </a:t>
            </a:r>
            <a:r>
              <a:rPr lang="en-US" sz="1800" b="1" dirty="0"/>
              <a:t>multi-agent workflows visually</a:t>
            </a:r>
            <a:r>
              <a:rPr lang="en-US" sz="1800" dirty="0"/>
              <a:t>. It helps connect different agents (transaction analysis, fraud detection, risk scoring, explanation) in a structured pipeline.</a:t>
            </a:r>
          </a:p>
          <a:p>
            <a:r>
              <a:rPr lang="en-US" sz="1800" b="1" dirty="0"/>
              <a:t>IBM Granite Model (e.g., ibm-granite-3-2-8b)</a:t>
            </a:r>
          </a:p>
          <a:p>
            <a:r>
              <a:rPr lang="en-US" sz="1800" dirty="0"/>
              <a:t>Used for: Natural language understanding</a:t>
            </a:r>
          </a:p>
          <a:p>
            <a:endParaRPr lang="en-US" sz="1800" b="1" dirty="0"/>
          </a:p>
          <a:p>
            <a:r>
              <a:rPr lang="en-US" sz="1800" b="1" dirty="0"/>
              <a:t>IBM Cloud</a:t>
            </a:r>
          </a:p>
          <a:p>
            <a:r>
              <a:rPr lang="en-US" sz="1800" dirty="0"/>
              <a:t>Provides a </a:t>
            </a:r>
            <a:r>
              <a:rPr lang="en-US" sz="1800" b="1" dirty="0"/>
              <a:t>secure and scalable infrastructure</a:t>
            </a:r>
            <a:r>
              <a:rPr lang="en-US" sz="1800" dirty="0"/>
              <a:t> to: Deploy the fraud detection system </a:t>
            </a:r>
          </a:p>
          <a:p>
            <a:endParaRPr lang="en-US" sz="1800" b="1" dirty="0"/>
          </a:p>
          <a:p>
            <a:r>
              <a:rPr lang="en-US" sz="1800" b="1" dirty="0"/>
              <a:t>RAG (Retrieval-Augmented Generation)</a:t>
            </a:r>
          </a:p>
          <a:p>
            <a:r>
              <a:rPr lang="en-US" sz="1800" dirty="0"/>
              <a:t>Used to: Retrieve historical transaction patterns and fraud cases ,Combine real data with AI reasoning </a:t>
            </a:r>
          </a:p>
          <a:p>
            <a:r>
              <a:rPr lang="en-US" sz="1800" dirty="0"/>
              <a:t>Improve accuracy and trust in fraud detection </a:t>
            </a:r>
          </a:p>
          <a:p>
            <a:pPr marL="285750" indent="-285750">
              <a:buFont typeface="Arial" panose="020B0604020202020204" pitchFamily="34" charset="0"/>
              <a:buChar char="•"/>
            </a:pPr>
            <a:endParaRPr lang="en-US" sz="1800" dirty="0"/>
          </a:p>
          <a:p>
            <a:r>
              <a:rPr lang="en-US" sz="1800" b="1" dirty="0"/>
              <a:t>IBM watsonx.ai</a:t>
            </a:r>
          </a:p>
          <a:p>
            <a:r>
              <a:rPr lang="en-US" sz="1800" dirty="0"/>
              <a:t>Used for: Model deployment ,Generating embeddings for transaction data ,AI governance and monitoring.</a:t>
            </a:r>
          </a:p>
          <a:p>
            <a:r>
              <a:rPr lang="en-US" sz="1800" b="1" dirty="0"/>
              <a:t>Vector Database (FAISS / Chroma)</a:t>
            </a:r>
          </a:p>
          <a:p>
            <a:r>
              <a:rPr lang="en-US" sz="1800" dirty="0"/>
              <a:t>Stores: Transaction embeddings ,Fraud patterns and historical data </a:t>
            </a:r>
          </a:p>
          <a:p>
            <a:r>
              <a:rPr lang="en-US" sz="1800" dirty="0"/>
              <a:t>Enables: Fast similarity search Detection of anomalies and suspicious behavior</a:t>
            </a:r>
          </a:p>
          <a:p>
            <a:endParaRPr lang="en-US" sz="1800" dirty="0"/>
          </a:p>
          <a:p>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217714" y="1207008"/>
            <a:ext cx="11861510" cy="5847755"/>
          </a:xfrm>
          <a:prstGeom prst="rect">
            <a:avLst/>
          </a:prstGeom>
          <a:noFill/>
        </p:spPr>
        <p:txBody>
          <a:bodyPr wrap="square" rtlCol="0">
            <a:spAutoFit/>
          </a:bodyPr>
          <a:lstStyle/>
          <a:p>
            <a:r>
              <a:rPr lang="en-US" sz="1800" b="1" dirty="0"/>
              <a:t>Unique Value Proposition: Fraud Detection System</a:t>
            </a:r>
          </a:p>
          <a:p>
            <a:r>
              <a:rPr lang="en-US" sz="1800" dirty="0"/>
              <a:t>The proposed Fraud Detection System stands out by combining </a:t>
            </a:r>
            <a:r>
              <a:rPr lang="en-US" sz="1800" b="1" dirty="0"/>
              <a:t>Agentic AI, RAG, and real-time intelligence</a:t>
            </a:r>
            <a:r>
              <a:rPr lang="en-US" sz="1800" dirty="0"/>
              <a:t> into a single powerful solution for financial security.</a:t>
            </a:r>
          </a:p>
          <a:p>
            <a:endParaRPr lang="en-IN" sz="1800" dirty="0"/>
          </a:p>
          <a:p>
            <a:r>
              <a:rPr lang="en-US" sz="1800" b="1" dirty="0"/>
              <a:t>Multi-Agent Intelligence-</a:t>
            </a:r>
            <a:r>
              <a:rPr lang="en-US" sz="1800" dirty="0"/>
              <a:t>Instead of a single rule-based system, multiple specialized agents collaborate to: Analyze transactions ,Detect fraud patterns</a:t>
            </a:r>
          </a:p>
          <a:p>
            <a:r>
              <a:rPr lang="en-US" sz="1800" b="1" dirty="0"/>
              <a:t>RAG-Based Accuracy-</a:t>
            </a:r>
            <a:r>
              <a:rPr lang="en-US" sz="1800" dirty="0"/>
              <a:t>Integrates </a:t>
            </a:r>
            <a:r>
              <a:rPr lang="en-US" sz="1800" b="1" dirty="0"/>
              <a:t>real-time data retrieval with AI reasoning</a:t>
            </a:r>
            <a:r>
              <a:rPr lang="en-US" sz="1800" dirty="0"/>
              <a:t>:</a:t>
            </a:r>
          </a:p>
          <a:p>
            <a:r>
              <a:rPr lang="en-US" sz="1800" dirty="0"/>
              <a:t>Uses historical transaction data and fraud cases ,Reduces false positives</a:t>
            </a:r>
          </a:p>
          <a:p>
            <a:r>
              <a:rPr lang="en-US" sz="1800" b="1" dirty="0"/>
              <a:t>Context-Aware Detection-</a:t>
            </a:r>
            <a:r>
              <a:rPr lang="en-US" sz="1800" dirty="0"/>
              <a:t>Understands transaction details such as: Amount ,Transaction type ,Balance changes</a:t>
            </a:r>
          </a:p>
          <a:p>
            <a:r>
              <a:rPr lang="en-US" sz="1800" b="1" dirty="0"/>
              <a:t>Real-Time Fraud Detection</a:t>
            </a:r>
            <a:r>
              <a:rPr lang="en-US" sz="1800" dirty="0"/>
              <a:t>-Instantly classifies transactions as: Fraud Detected Transaction Safe Helps prevent fraud before financial damage occurs.</a:t>
            </a:r>
          </a:p>
          <a:p>
            <a:r>
              <a:rPr lang="en-IN" sz="1800" b="1" dirty="0"/>
              <a:t>Multi-Modal Input</a:t>
            </a:r>
            <a:r>
              <a:rPr lang="en-IN" sz="1800" dirty="0"/>
              <a:t> – Supports text, voice, and image-based meal tracking for better usability. </a:t>
            </a:r>
          </a:p>
          <a:p>
            <a:r>
              <a:rPr lang="en-US" sz="1800" b="1" dirty="0"/>
              <a:t>Adaptive Learning System-</a:t>
            </a:r>
            <a:r>
              <a:rPr lang="en-US" sz="1800" dirty="0"/>
              <a:t>Continuously improves using new transaction data ,Adapts to evolving fraud techniques</a:t>
            </a:r>
          </a:p>
          <a:p>
            <a:r>
              <a:rPr lang="en-US" sz="1800" b="1" dirty="0"/>
              <a:t>Scalable &amp; Enterprise-Ready</a:t>
            </a:r>
          </a:p>
          <a:p>
            <a:r>
              <a:rPr lang="en-US" sz="1800" dirty="0"/>
              <a:t>Built on </a:t>
            </a:r>
            <a:r>
              <a:rPr lang="en-US" sz="1800" b="1" dirty="0"/>
              <a:t>IBM watsonx.ai with Granite models</a:t>
            </a:r>
            <a:r>
              <a:rPr lang="en-US" sz="1800" dirty="0"/>
              <a:t>, ensuring: Scalability ,Security ,AI governance.</a:t>
            </a:r>
          </a:p>
          <a:p>
            <a:endParaRPr lang="en-US" sz="1800" dirty="0"/>
          </a:p>
          <a:p>
            <a:r>
              <a:rPr lang="en-US" sz="1800" dirty="0"/>
              <a:t>This makes the system a </a:t>
            </a:r>
            <a:r>
              <a:rPr lang="en-US" sz="1800" b="1" dirty="0"/>
              <a:t>smart, proactive, and adaptive financial security assistant</a:t>
            </a:r>
            <a:r>
              <a:rPr lang="en-US" sz="1800" dirty="0"/>
              <a:t>, not just a basic fraud checker—capable of detecting fraud in real time while providing explainable and reliable insights.</a:t>
            </a:r>
          </a:p>
          <a:p>
            <a:endParaRPr lang="en-IN" sz="1800"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3" y="1153712"/>
            <a:ext cx="9939133"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GitHub URL – </a:t>
            </a:r>
            <a:r>
              <a:rPr lang="en-US" sz="1850" dirty="0">
                <a:solidFill>
                  <a:srgbClr val="2B3541"/>
                </a:solidFill>
                <a:latin typeface="Times New Roman"/>
                <a:ea typeface="Times New Roman"/>
                <a:cs typeface="Times New Roman"/>
                <a:sym typeface="Times New Roman"/>
                <a:hlinkClick r:id="rId3"/>
              </a:rPr>
              <a:t>https://github.com/faraz-2023/Fraud-Detection-Data</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Integration with Banking &amp; Payment APIs –</a:t>
            </a:r>
            <a:r>
              <a:rPr lang="en-US" sz="1850" b="0" i="0" u="none" strike="noStrike" cap="none" dirty="0">
                <a:solidFill>
                  <a:srgbClr val="2B3541"/>
                </a:solidFill>
                <a:latin typeface="Times New Roman"/>
                <a:ea typeface="Times New Roman"/>
                <a:cs typeface="Times New Roman"/>
                <a:sym typeface="Times New Roman"/>
              </a:rPr>
              <a:t>The system can be integrated with real-time banking APIs, payment gateways (UPI, cards, wallets), and transaction monitoring systems to collect live transaction data such as amount, location, device fingerprint, velocity, and account behavior. This integration enables the Fraud Detection Agent to make more accurate and dynamic risk assessments based on actual transaction patterns and user behavior.</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for fraud teams and customers. Users and investigators can report suspicious transactions, receive alerts, or get explanations naturally in their preferred language, making the solution more inclusive and suitable for diverse populations, especially in regions with varied linguistic backgrounds like India.</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1313</TotalTime>
  <Words>1392</Words>
  <Application>Microsoft Office PowerPoint</Application>
  <PresentationFormat>Widescreen</PresentationFormat>
  <Paragraphs>124</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Faraz akram</cp:lastModifiedBy>
  <cp:revision>25</cp:revision>
  <dcterms:created xsi:type="dcterms:W3CDTF">2025-07-08T05:06:56Z</dcterms:created>
  <dcterms:modified xsi:type="dcterms:W3CDTF">2026-04-17T12:01:03Z</dcterms:modified>
</cp:coreProperties>
</file>